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nva Sans" panose="020B0503030501040103" pitchFamily="34" charset="0"/>
      <p:regular r:id="rId22"/>
    </p:embeddedFont>
    <p:embeddedFont>
      <p:font typeface="Canva Sans Bold" panose="020B0803030501040103" pitchFamily="34" charset="0"/>
      <p:regular r:id="rId23"/>
      <p:bold r:id="rId24"/>
    </p:embeddedFont>
    <p:embeddedFont>
      <p:font typeface="Public Sans" pitchFamily="2" charset="77"/>
      <p:regular r:id="rId25"/>
    </p:embeddedFont>
    <p:embeddedFont>
      <p:font typeface="Public Sans Bold" pitchFamily="2" charset="77"/>
      <p:regular r:id="rId26"/>
    </p:embeddedFont>
    <p:embeddedFont>
      <p:font typeface="Public Sans Italics" pitchFamily="2" charset="77"/>
      <p:regular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6132" autoAdjust="0"/>
  </p:normalViewPr>
  <p:slideViewPr>
    <p:cSldViewPr>
      <p:cViewPr varScale="1">
        <p:scale>
          <a:sx n="77" d="100"/>
          <a:sy n="77" d="100"/>
        </p:scale>
        <p:origin x="54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77381" y="6489565"/>
            <a:ext cx="3983397" cy="4291059"/>
            <a:chOff x="0" y="-47625"/>
            <a:chExt cx="4766297" cy="51344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6297" cy="4085867"/>
            </a:xfrm>
            <a:custGeom>
              <a:avLst/>
              <a:gdLst/>
              <a:ahLst/>
              <a:cxnLst/>
              <a:rect l="l" t="t" r="r" b="b"/>
              <a:pathLst>
                <a:path w="4766297" h="4985202">
                  <a:moveTo>
                    <a:pt x="0" y="0"/>
                  </a:moveTo>
                  <a:lnTo>
                    <a:pt x="4766297" y="0"/>
                  </a:lnTo>
                  <a:lnTo>
                    <a:pt x="4766297" y="4985202"/>
                  </a:lnTo>
                  <a:lnTo>
                    <a:pt x="0" y="4985202"/>
                  </a:lnTo>
                  <a:close/>
                </a:path>
              </a:pathLst>
            </a:custGeom>
            <a:solidFill>
              <a:srgbClr val="FDF9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4766297" cy="5086802"/>
            </a:xfrm>
            <a:custGeom>
              <a:avLst/>
              <a:gdLst/>
              <a:ahLst/>
              <a:cxnLst/>
              <a:rect l="l" t="t" r="r" b="b"/>
              <a:pathLst>
                <a:path w="4766297" h="5086802">
                  <a:moveTo>
                    <a:pt x="0" y="4985202"/>
                  </a:moveTo>
                  <a:lnTo>
                    <a:pt x="4766297" y="4985202"/>
                  </a:lnTo>
                  <a:lnTo>
                    <a:pt x="4639297" y="5086802"/>
                  </a:lnTo>
                  <a:cubicBezTo>
                    <a:pt x="4639297" y="5086802"/>
                    <a:pt x="3648697" y="5010602"/>
                    <a:pt x="3547097" y="5010602"/>
                  </a:cubicBezTo>
                  <a:lnTo>
                    <a:pt x="1219200" y="5010602"/>
                  </a:lnTo>
                  <a:cubicBezTo>
                    <a:pt x="1117600" y="5010602"/>
                    <a:pt x="127000" y="5086802"/>
                    <a:pt x="127000" y="5086802"/>
                  </a:cubicBezTo>
                  <a:lnTo>
                    <a:pt x="0" y="4985202"/>
                  </a:lnTo>
                  <a:lnTo>
                    <a:pt x="0" y="0"/>
                  </a:lnTo>
                  <a:lnTo>
                    <a:pt x="4766297" y="0"/>
                  </a:lnTo>
                  <a:lnTo>
                    <a:pt x="4766297" y="4985202"/>
                  </a:lnTo>
                  <a:lnTo>
                    <a:pt x="12700" y="4985202"/>
                  </a:lnTo>
                  <a:lnTo>
                    <a:pt x="12700" y="4972502"/>
                  </a:lnTo>
                  <a:lnTo>
                    <a:pt x="4753597" y="4972502"/>
                  </a:lnTo>
                  <a:lnTo>
                    <a:pt x="4753597" y="12700"/>
                  </a:lnTo>
                  <a:lnTo>
                    <a:pt x="12700" y="12700"/>
                  </a:lnTo>
                  <a:lnTo>
                    <a:pt x="12700" y="498520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66297" cy="4575627"/>
            </a:xfrm>
            <a:prstGeom prst="rect">
              <a:avLst/>
            </a:prstGeom>
          </p:spPr>
          <p:txBody>
            <a:bodyPr lIns="226430" tIns="226430" rIns="226430" bIns="226430" rtlCol="0" anchor="t"/>
            <a:lstStyle/>
            <a:p>
              <a:pPr algn="l">
                <a:lnSpc>
                  <a:spcPts val="3972"/>
                </a:lnSpc>
              </a:pPr>
              <a:r>
                <a:rPr lang="en-US" sz="2837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GLOBAL ANALYTICS</a:t>
              </a:r>
            </a:p>
            <a:p>
              <a:pPr algn="l">
                <a:lnSpc>
                  <a:spcPts val="3552"/>
                </a:lnSpc>
              </a:pPr>
              <a:r>
                <a:rPr lang="en-US" sz="2537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Ashwani Verma</a:t>
              </a:r>
            </a:p>
            <a:p>
              <a:pPr algn="l">
                <a:lnSpc>
                  <a:spcPts val="3552"/>
                </a:lnSpc>
              </a:pPr>
              <a:r>
                <a:rPr lang="en-US" sz="2537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Sarun Bhatta</a:t>
              </a:r>
            </a:p>
            <a:p>
              <a:pPr algn="l">
                <a:lnSpc>
                  <a:spcPts val="3552"/>
                </a:lnSpc>
              </a:pPr>
              <a:r>
                <a:rPr lang="en-US" sz="2537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Uyaruun Purevdorj</a:t>
              </a:r>
            </a:p>
            <a:p>
              <a:pPr algn="l">
                <a:lnSpc>
                  <a:spcPts val="2184"/>
                </a:lnSpc>
              </a:pPr>
              <a:endParaRPr lang="en-US" sz="253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2184"/>
                </a:lnSpc>
              </a:pPr>
              <a:endParaRPr lang="en-US" sz="253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2184"/>
                </a:lnSpc>
              </a:pPr>
              <a:endParaRPr lang="en-US" sz="253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2184"/>
                </a:lnSpc>
              </a:pPr>
              <a:endParaRPr lang="en-US" sz="253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95350" y="1657350"/>
            <a:ext cx="10738688" cy="6323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71"/>
              </a:lnSpc>
            </a:pPr>
            <a:r>
              <a:rPr lang="en-US" sz="15677" b="1" spc="-1567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Predicting High Cost Claims Using ML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14237" y="5921995"/>
            <a:ext cx="408921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360" b="1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PRESENTED 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102606" y="5549989"/>
            <a:ext cx="4185394" cy="2868897"/>
          </a:xfrm>
          <a:custGeom>
            <a:avLst/>
            <a:gdLst/>
            <a:ahLst/>
            <a:cxnLst/>
            <a:rect l="l" t="t" r="r" b="b"/>
            <a:pathLst>
              <a:path w="4185394" h="2868897">
                <a:moveTo>
                  <a:pt x="4185394" y="0"/>
                </a:moveTo>
                <a:lnTo>
                  <a:pt x="0" y="0"/>
                </a:lnTo>
                <a:lnTo>
                  <a:pt x="0" y="2868897"/>
                </a:lnTo>
                <a:lnTo>
                  <a:pt x="4185394" y="2868897"/>
                </a:lnTo>
                <a:lnTo>
                  <a:pt x="41853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276350"/>
            <a:ext cx="7580922" cy="116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30"/>
              </a:lnSpc>
            </a:pPr>
            <a:r>
              <a:rPr lang="en-US" sz="9256" spc="-74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Project Goal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211675" y="1028700"/>
            <a:ext cx="47625" cy="3468143"/>
            <a:chOff x="0" y="0"/>
            <a:chExt cx="7378" cy="5373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78" cy="537306"/>
            </a:xfrm>
            <a:custGeom>
              <a:avLst/>
              <a:gdLst/>
              <a:ahLst/>
              <a:cxnLst/>
              <a:rect l="l" t="t" r="r" b="b"/>
              <a:pathLst>
                <a:path w="7378" h="537306">
                  <a:moveTo>
                    <a:pt x="3689" y="0"/>
                  </a:moveTo>
                  <a:lnTo>
                    <a:pt x="3689" y="0"/>
                  </a:lnTo>
                  <a:cubicBezTo>
                    <a:pt x="4668" y="0"/>
                    <a:pt x="5606" y="389"/>
                    <a:pt x="6298" y="1081"/>
                  </a:cubicBezTo>
                  <a:cubicBezTo>
                    <a:pt x="6990" y="1772"/>
                    <a:pt x="7378" y="2711"/>
                    <a:pt x="7378" y="3689"/>
                  </a:cubicBezTo>
                  <a:lnTo>
                    <a:pt x="7378" y="533617"/>
                  </a:lnTo>
                  <a:cubicBezTo>
                    <a:pt x="7378" y="534595"/>
                    <a:pt x="6990" y="535534"/>
                    <a:pt x="6298" y="536226"/>
                  </a:cubicBezTo>
                  <a:cubicBezTo>
                    <a:pt x="5606" y="536917"/>
                    <a:pt x="4668" y="537306"/>
                    <a:pt x="3689" y="537306"/>
                  </a:cubicBezTo>
                  <a:lnTo>
                    <a:pt x="3689" y="537306"/>
                  </a:lnTo>
                  <a:cubicBezTo>
                    <a:pt x="2711" y="537306"/>
                    <a:pt x="1772" y="536917"/>
                    <a:pt x="1081" y="536226"/>
                  </a:cubicBezTo>
                  <a:cubicBezTo>
                    <a:pt x="389" y="535534"/>
                    <a:pt x="0" y="534595"/>
                    <a:pt x="0" y="533617"/>
                  </a:cubicBezTo>
                  <a:lnTo>
                    <a:pt x="0" y="3689"/>
                  </a:lnTo>
                  <a:cubicBezTo>
                    <a:pt x="0" y="2711"/>
                    <a:pt x="389" y="1772"/>
                    <a:pt x="1081" y="1081"/>
                  </a:cubicBezTo>
                  <a:cubicBezTo>
                    <a:pt x="1772" y="389"/>
                    <a:pt x="2711" y="0"/>
                    <a:pt x="36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121543"/>
            <a:ext cx="12427090" cy="276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83"/>
              </a:lnSpc>
            </a:pPr>
            <a:r>
              <a:rPr lang="en-US" sz="5273">
                <a:solidFill>
                  <a:srgbClr val="272727"/>
                </a:solidFill>
                <a:latin typeface="Canva Sans"/>
                <a:ea typeface="Canva Sans"/>
                <a:cs typeface="Canva Sans"/>
                <a:sym typeface="Canva Sans"/>
              </a:rPr>
              <a:t>The main goal of our project is to predict which claims will be flagged as High Dollar Claims.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0070" y="3575107"/>
            <a:ext cx="2657541" cy="3971868"/>
          </a:xfrm>
          <a:custGeom>
            <a:avLst/>
            <a:gdLst/>
            <a:ahLst/>
            <a:cxnLst/>
            <a:rect l="l" t="t" r="r" b="b"/>
            <a:pathLst>
              <a:path w="2657541" h="3971868">
                <a:moveTo>
                  <a:pt x="0" y="0"/>
                </a:moveTo>
                <a:lnTo>
                  <a:pt x="2657540" y="0"/>
                </a:lnTo>
                <a:lnTo>
                  <a:pt x="2657540" y="3971868"/>
                </a:lnTo>
                <a:lnTo>
                  <a:pt x="0" y="397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830592" y="1665608"/>
            <a:ext cx="9024794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30592" y="4731701"/>
            <a:ext cx="1233857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999" b="1" spc="-239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68226" y="4651374"/>
            <a:ext cx="1049107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Data Exploration and EDA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30592" y="5413404"/>
            <a:ext cx="1233857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999" b="1" spc="-239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30592" y="6099203"/>
            <a:ext cx="1233857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999" b="1" spc="-239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68226" y="6013478"/>
            <a:ext cx="1049107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Feature Engineering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8226" y="5333076"/>
            <a:ext cx="1049107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Data Preprocessing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30592" y="6785003"/>
            <a:ext cx="1233857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999" b="1" spc="-239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68226" y="6708803"/>
            <a:ext cx="1049107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Model Selection and Training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30592" y="7465405"/>
            <a:ext cx="1233857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999" b="1" spc="-239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68226" y="7411588"/>
            <a:ext cx="1049107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Model 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0592" y="8198829"/>
            <a:ext cx="1233857" cy="37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999" b="1" spc="-239">
                <a:solidFill>
                  <a:srgbClr val="2727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8226" y="8132154"/>
            <a:ext cx="1049107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24228"/>
            <a:ext cx="3870558" cy="1590448"/>
          </a:xfrm>
          <a:custGeom>
            <a:avLst/>
            <a:gdLst/>
            <a:ahLst/>
            <a:cxnLst/>
            <a:rect l="l" t="t" r="r" b="b"/>
            <a:pathLst>
              <a:path w="3870558" h="1590448">
                <a:moveTo>
                  <a:pt x="0" y="0"/>
                </a:moveTo>
                <a:lnTo>
                  <a:pt x="3870558" y="0"/>
                </a:lnTo>
                <a:lnTo>
                  <a:pt x="3870558" y="1590448"/>
                </a:lnTo>
                <a:lnTo>
                  <a:pt x="0" y="1590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00050"/>
            <a:ext cx="11655758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spc="-80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Data Exploration and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754342"/>
            <a:ext cx="13497468" cy="346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24"/>
              </a:lnSpc>
            </a:pPr>
            <a:r>
              <a:rPr lang="en-US" sz="4017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We first explored the data using data visualization techniques. We used different visualization charts like Barplots, Boxplots, Histogram, Heatmaps, etc., in order to have a better understanding of the data and interpret the data.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835991" y="8641721"/>
            <a:ext cx="616017" cy="617140"/>
          </a:xfrm>
          <a:custGeom>
            <a:avLst/>
            <a:gdLst/>
            <a:ahLst/>
            <a:cxnLst/>
            <a:rect l="l" t="t" r="r" b="b"/>
            <a:pathLst>
              <a:path w="616017" h="617140">
                <a:moveTo>
                  <a:pt x="0" y="0"/>
                </a:moveTo>
                <a:lnTo>
                  <a:pt x="616018" y="0"/>
                </a:lnTo>
                <a:lnTo>
                  <a:pt x="616018" y="617140"/>
                </a:lnTo>
                <a:lnTo>
                  <a:pt x="0" y="617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835430" y="1648646"/>
            <a:ext cx="8364084" cy="8039099"/>
          </a:xfrm>
          <a:custGeom>
            <a:avLst/>
            <a:gdLst/>
            <a:ahLst/>
            <a:cxnLst/>
            <a:rect l="l" t="t" r="r" b="b"/>
            <a:pathLst>
              <a:path w="8364084" h="8039099">
                <a:moveTo>
                  <a:pt x="0" y="0"/>
                </a:moveTo>
                <a:lnTo>
                  <a:pt x="8364084" y="0"/>
                </a:lnTo>
                <a:lnTo>
                  <a:pt x="8364084" y="8039099"/>
                </a:lnTo>
                <a:lnTo>
                  <a:pt x="0" y="8039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238250"/>
            <a:ext cx="7097220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Barplots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659847"/>
            <a:ext cx="7097220" cy="169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272727"/>
                </a:solidFill>
                <a:latin typeface="Canva Sans"/>
                <a:ea typeface="Canva Sans"/>
                <a:cs typeface="Canva Sans"/>
                <a:sym typeface="Canva Sans"/>
              </a:rPr>
              <a:t>We used Bar plots to see different       distributions like High Cost Claims,   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272727"/>
                </a:solidFill>
                <a:latin typeface="Canva Sans"/>
                <a:ea typeface="Canva Sans"/>
                <a:cs typeface="Canva Sans"/>
                <a:sym typeface="Canva Sans"/>
              </a:rPr>
              <a:t> Gender Distributions etc.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01520"/>
            <a:ext cx="6737781" cy="17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3323">
                <a:solidFill>
                  <a:srgbClr val="272727"/>
                </a:solidFill>
                <a:latin typeface="Canva Sans"/>
                <a:ea typeface="Canva Sans"/>
                <a:cs typeface="Canva Sans"/>
                <a:sym typeface="Canva Sans"/>
              </a:rPr>
              <a:t>Here in the chart we can see most of the claims are low cost claims.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6886" y="1501237"/>
            <a:ext cx="11441114" cy="8357028"/>
          </a:xfrm>
          <a:custGeom>
            <a:avLst/>
            <a:gdLst/>
            <a:ahLst/>
            <a:cxnLst/>
            <a:rect l="l" t="t" r="r" b="b"/>
            <a:pathLst>
              <a:path w="11441114" h="8357028">
                <a:moveTo>
                  <a:pt x="0" y="0"/>
                </a:moveTo>
                <a:lnTo>
                  <a:pt x="11441114" y="0"/>
                </a:lnTo>
                <a:lnTo>
                  <a:pt x="11441114" y="8357028"/>
                </a:lnTo>
                <a:lnTo>
                  <a:pt x="0" y="8357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5" r="-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00162" y="876300"/>
            <a:ext cx="5405795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Histogram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756979"/>
            <a:ext cx="5818186" cy="223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48"/>
              </a:lnSpc>
              <a:spcBef>
                <a:spcPct val="0"/>
              </a:spcBef>
            </a:pPr>
            <a:r>
              <a:rPr lang="en-US" sz="31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Histogram to see the Time to Pay i.e. difference between Paid Date and Received Date columns.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0162" y="5507973"/>
            <a:ext cx="5405795" cy="278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477"/>
              </a:lnSpc>
              <a:spcBef>
                <a:spcPct val="0"/>
              </a:spcBef>
            </a:pPr>
            <a:r>
              <a:rPr lang="en-US" sz="3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can see that most of the claims were paid on the 7th day after  the received date, while an outlier took ~1000 days.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51204" y="1553317"/>
            <a:ext cx="9985591" cy="8468401"/>
          </a:xfrm>
          <a:custGeom>
            <a:avLst/>
            <a:gdLst/>
            <a:ahLst/>
            <a:cxnLst/>
            <a:rect l="l" t="t" r="r" b="b"/>
            <a:pathLst>
              <a:path w="9985591" h="8468401">
                <a:moveTo>
                  <a:pt x="0" y="0"/>
                </a:moveTo>
                <a:lnTo>
                  <a:pt x="9985592" y="0"/>
                </a:lnTo>
                <a:lnTo>
                  <a:pt x="9985592" y="8468401"/>
                </a:lnTo>
                <a:lnTo>
                  <a:pt x="0" y="8468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28808" y="-192306"/>
            <a:ext cx="4542740" cy="140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68"/>
              </a:lnSpc>
              <a:spcBef>
                <a:spcPct val="0"/>
              </a:spcBef>
            </a:pPr>
            <a:r>
              <a:rPr lang="en-US" sz="8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Boxplot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10851" y="601051"/>
            <a:ext cx="11338680" cy="9145658"/>
          </a:xfrm>
          <a:custGeom>
            <a:avLst/>
            <a:gdLst/>
            <a:ahLst/>
            <a:cxnLst/>
            <a:rect l="l" t="t" r="r" b="b"/>
            <a:pathLst>
              <a:path w="11338680" h="9145658">
                <a:moveTo>
                  <a:pt x="0" y="0"/>
                </a:moveTo>
                <a:lnTo>
                  <a:pt x="11338680" y="0"/>
                </a:lnTo>
                <a:lnTo>
                  <a:pt x="11338680" y="9145658"/>
                </a:lnTo>
                <a:lnTo>
                  <a:pt x="0" y="914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7" t="-781" r="-7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699" y="876300"/>
            <a:ext cx="5251119" cy="136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Heatmaps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47325"/>
            <a:ext cx="5251119" cy="117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2"/>
              </a:lnSpc>
              <a:spcBef>
                <a:spcPct val="0"/>
              </a:spcBef>
            </a:pPr>
            <a:r>
              <a:rPr lang="en-US" sz="34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Yellow color signifies the missing data.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626195"/>
            <a:ext cx="5251119" cy="157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53"/>
              </a:lnSpc>
              <a:spcBef>
                <a:spcPct val="0"/>
              </a:spcBef>
            </a:pPr>
            <a:r>
              <a:rPr lang="en-US" sz="29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main goal in this project is to predict the yellow ones in the High-Cost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0099437" cy="1358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88747"/>
            <a:ext cx="14185386" cy="68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9643" lvl="1" indent="-429822" algn="ctr">
              <a:lnSpc>
                <a:spcPts val="5574"/>
              </a:lnSpc>
              <a:buFont typeface="Arial"/>
              <a:buChar char="•"/>
            </a:pPr>
            <a:r>
              <a:rPr lang="en-US" sz="39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Ensuring No Patient Appears in Both Train &amp; Test Sets.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5356" y="3784592"/>
            <a:ext cx="15167649" cy="114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15"/>
              </a:lnSpc>
              <a:spcBef>
                <a:spcPct val="0"/>
              </a:spcBef>
            </a:pPr>
            <a:r>
              <a:rPr lang="en-US" sz="32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prevents data leakage(data contamination) and makes the model more reliable.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5356" y="4919193"/>
            <a:ext cx="12953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29626" y="5432908"/>
            <a:ext cx="988377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Drop duplicates to get unique patients only.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29626" y="6279998"/>
            <a:ext cx="1343362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Split these unique patients either in train (80%) or test (20%).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34687" y="7127088"/>
            <a:ext cx="1342856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Finally, assign all claims for each patient to the same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7710" y="1416960"/>
            <a:ext cx="8469128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Feature Engineering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5264" y="2874010"/>
            <a:ext cx="14318745" cy="5221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520" lvl="1" indent="-356260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We used sparse features, which only store non-zero values, to reduce runtime and memory usage.</a:t>
            </a:r>
          </a:p>
          <a:p>
            <a:pPr marL="712520" lvl="1" indent="-356260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Service Date, Received Date, and Paid Date were excluded, as they did not improve model performance.</a:t>
            </a:r>
          </a:p>
          <a:p>
            <a:pPr marL="712520" lvl="1" indent="-356260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Claim ID and Patient ID were dropped because they were unique identifiers and not helpful for model improvement.</a:t>
            </a:r>
          </a:p>
          <a:p>
            <a:pPr marL="712520" lvl="1" indent="-356260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Our approach was to de-normalize the dataset, creating independent features that the model could correlate with high-cost claims. We'll explain how we applied this technique to the </a:t>
            </a:r>
            <a:r>
              <a:rPr lang="en-US" sz="3300" i="1">
                <a:solidFill>
                  <a:srgbClr val="27272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classes</a:t>
            </a:r>
            <a:r>
              <a:rPr lang="en-US" sz="330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 and </a:t>
            </a:r>
            <a:r>
              <a:rPr lang="en-US" sz="3300" i="1">
                <a:solidFill>
                  <a:srgbClr val="27272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labels</a:t>
            </a:r>
            <a:r>
              <a:rPr lang="en-US" sz="330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68879" y="4888279"/>
            <a:ext cx="13817628" cy="2115305"/>
          </a:xfrm>
          <a:custGeom>
            <a:avLst/>
            <a:gdLst/>
            <a:ahLst/>
            <a:cxnLst/>
            <a:rect l="l" t="t" r="r" b="b"/>
            <a:pathLst>
              <a:path w="13817628" h="2115305">
                <a:moveTo>
                  <a:pt x="0" y="0"/>
                </a:moveTo>
                <a:lnTo>
                  <a:pt x="13817628" y="0"/>
                </a:lnTo>
                <a:lnTo>
                  <a:pt x="13817628" y="2115305"/>
                </a:lnTo>
                <a:lnTo>
                  <a:pt x="0" y="2115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218" b="-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88366" y="1164565"/>
            <a:ext cx="12967395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Engineering &amp; Transformation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8664" y="3107866"/>
            <a:ext cx="14676231" cy="17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5139" lvl="1" indent="-367570" algn="l">
              <a:lnSpc>
                <a:spcPts val="4766"/>
              </a:lnSpc>
              <a:buFont typeface="Arial"/>
              <a:buChar char="•"/>
            </a:pPr>
            <a:r>
              <a:rPr lang="en-US" sz="34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Converted categorical data into 10,240 numerical features which includes ICD-10 Codes, Service Codes and Patient Demographics.</a:t>
            </a:r>
          </a:p>
          <a:p>
            <a:pPr marL="0" lvl="0" indent="0" algn="l">
              <a:lnSpc>
                <a:spcPts val="4766"/>
              </a:lnSpc>
              <a:spcBef>
                <a:spcPct val="0"/>
              </a:spcBef>
            </a:pPr>
            <a:endParaRPr lang="en-US" sz="340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88664" y="7686702"/>
            <a:ext cx="1439784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transformation allowed our model to extract meaningful patterns from the data.</a:t>
            </a:r>
          </a:p>
        </p:txBody>
      </p:sp>
    </p:spTree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6448330"/>
          <a:ext cx="3503221" cy="3131590"/>
        </p:xfrm>
        <a:graphic>
          <a:graphicData uri="http://schemas.openxmlformats.org/drawingml/2006/table">
            <a:tbl>
              <a:tblPr/>
              <a:tblGrid>
                <a:gridCol w="151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27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27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 1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27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30-39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50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10-19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5107412" y="7997133"/>
            <a:ext cx="1459396" cy="33984"/>
          </a:xfrm>
          <a:prstGeom prst="line">
            <a:avLst/>
          </a:prstGeom>
          <a:ln w="3429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142300" y="6294863"/>
          <a:ext cx="10277953" cy="3438526"/>
        </p:xfrm>
        <a:graphic>
          <a:graphicData uri="http://schemas.openxmlformats.org/drawingml/2006/table">
            <a:tbl>
              <a:tblPr/>
              <a:tblGrid>
                <a:gridCol w="160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9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980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&lt; 1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1-9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10-19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20-29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30-39 Yrs 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17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17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17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424280" y="325222"/>
            <a:ext cx="4366920" cy="1493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180"/>
              </a:lnSpc>
            </a:pPr>
            <a:r>
              <a:rPr lang="en-US" sz="8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526" y="5323110"/>
            <a:ext cx="48738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94350" y="5323110"/>
            <a:ext cx="48738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980664"/>
            <a:ext cx="16391553" cy="319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4745" lvl="1" indent="-327373" algn="just">
              <a:lnSpc>
                <a:spcPts val="4245"/>
              </a:lnSpc>
              <a:buFont typeface="Arial"/>
              <a:buChar char="•"/>
            </a:pPr>
            <a:r>
              <a:rPr lang="en-US" sz="3032" dirty="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Features like Age and Gender were treated as </a:t>
            </a:r>
            <a:r>
              <a:rPr lang="en-US" sz="3032" i="1" dirty="0">
                <a:solidFill>
                  <a:srgbClr val="27272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classes</a:t>
            </a:r>
            <a:r>
              <a:rPr lang="en-US" sz="3032" dirty="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, meaning each feature had distinct categories.</a:t>
            </a:r>
          </a:p>
          <a:p>
            <a:pPr marL="654745" lvl="1" indent="-327373" algn="just">
              <a:lnSpc>
                <a:spcPts val="4245"/>
              </a:lnSpc>
              <a:buFont typeface="Arial"/>
              <a:buChar char="•"/>
            </a:pPr>
            <a:r>
              <a:rPr lang="en-US" sz="3032" dirty="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These categories were </a:t>
            </a:r>
            <a:r>
              <a:rPr lang="en-US" sz="3032" i="1" dirty="0">
                <a:solidFill>
                  <a:srgbClr val="27272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one-hot encoded</a:t>
            </a:r>
            <a:r>
              <a:rPr lang="en-US" sz="3032" dirty="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, which involved creating a separate column for each category.</a:t>
            </a:r>
          </a:p>
          <a:p>
            <a:pPr marL="654745" lvl="1" indent="-327373" algn="just">
              <a:lnSpc>
                <a:spcPts val="4245"/>
              </a:lnSpc>
              <a:buFont typeface="Arial"/>
              <a:buChar char="•"/>
            </a:pPr>
            <a:r>
              <a:rPr lang="en-US" sz="3032" dirty="0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Categories with very few occurrences were removed to help avoid overfitting on these data.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6126709"/>
          <a:ext cx="3503221" cy="3131590"/>
        </p:xfrm>
        <a:graphic>
          <a:graphicData uri="http://schemas.openxmlformats.org/drawingml/2006/table">
            <a:tbl>
              <a:tblPr/>
              <a:tblGrid>
                <a:gridCol w="151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27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Modifiers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27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27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F3,3M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50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AutoShape 3"/>
          <p:cNvSpPr/>
          <p:nvPr/>
        </p:nvSpPr>
        <p:spPr>
          <a:xfrm>
            <a:off x="5026936" y="7675513"/>
            <a:ext cx="1459396" cy="33984"/>
          </a:xfrm>
          <a:prstGeom prst="line">
            <a:avLst/>
          </a:prstGeom>
          <a:ln w="3429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981347" y="6113413"/>
          <a:ext cx="10277953" cy="3124200"/>
        </p:xfrm>
        <a:graphic>
          <a:graphicData uri="http://schemas.openxmlformats.org/drawingml/2006/table">
            <a:tbl>
              <a:tblPr/>
              <a:tblGrid>
                <a:gridCol w="160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9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343399" y="4997543"/>
            <a:ext cx="48738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83412" y="4997543"/>
            <a:ext cx="48738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2118" y="-412"/>
            <a:ext cx="3875104" cy="1493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Labels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9377" y="1655029"/>
            <a:ext cx="16389247" cy="319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4175" lvl="1" indent="-327088" algn="just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ICD10 codes and Modifiers were treated as </a:t>
            </a:r>
            <a:r>
              <a:rPr lang="en-US" sz="3029" i="1">
                <a:solidFill>
                  <a:srgbClr val="27272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labels</a:t>
            </a:r>
            <a:r>
              <a:rPr lang="en-US" sz="302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, meaning they could belong to multiple categories at once.</a:t>
            </a:r>
          </a:p>
          <a:p>
            <a:pPr marL="654175" lvl="1" indent="-327088" algn="just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These were </a:t>
            </a:r>
            <a:r>
              <a:rPr lang="en-US" sz="3029" i="1">
                <a:solidFill>
                  <a:srgbClr val="27272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multi-hot encoded</a:t>
            </a:r>
            <a:r>
              <a:rPr lang="en-US" sz="302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, where each unique code or modifier was mapped to its own column.</a:t>
            </a:r>
          </a:p>
          <a:p>
            <a:pPr marL="654175" lvl="1" indent="-327088" algn="just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As with the </a:t>
            </a:r>
            <a:r>
              <a:rPr lang="en-US" sz="3029" i="1">
                <a:solidFill>
                  <a:srgbClr val="27272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classes</a:t>
            </a:r>
            <a:r>
              <a:rPr lang="en-US" sz="302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, categories with low frequency were dropped to prevent overfitting on these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6560711" y="3300017"/>
            <a:ext cx="2657541" cy="3971868"/>
          </a:xfrm>
          <a:custGeom>
            <a:avLst/>
            <a:gdLst/>
            <a:ahLst/>
            <a:cxnLst/>
            <a:rect l="l" t="t" r="r" b="b"/>
            <a:pathLst>
              <a:path w="2657541" h="3971868">
                <a:moveTo>
                  <a:pt x="2657541" y="0"/>
                </a:moveTo>
                <a:lnTo>
                  <a:pt x="0" y="0"/>
                </a:lnTo>
                <a:lnTo>
                  <a:pt x="0" y="3971868"/>
                </a:lnTo>
                <a:lnTo>
                  <a:pt x="2657541" y="3971868"/>
                </a:lnTo>
                <a:lnTo>
                  <a:pt x="26575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6062" y="277811"/>
            <a:ext cx="8347937" cy="1358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199"/>
              </a:lnSpc>
              <a:spcBef>
                <a:spcPct val="0"/>
              </a:spcBef>
            </a:pPr>
            <a:r>
              <a:rPr lang="en-US" sz="7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Selection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2153" y="2153751"/>
            <a:ext cx="11255971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Support Vector Classifier (LinearSVC)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9231" y="3117713"/>
            <a:ext cx="14681186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Chosen for its efficiency in handling high-dimensional &amp; imbalanced datasets.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Finds an optimal hyperplane to separate high-cost vs. low-cost claims.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96063" y="6022203"/>
            <a:ext cx="6669324" cy="69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Handling Class Imbalance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1342" y="6984863"/>
            <a:ext cx="12114629" cy="59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6"/>
              </a:lnSpc>
              <a:spcBef>
                <a:spcPct val="0"/>
              </a:spcBef>
            </a:pPr>
            <a:r>
              <a:rPr lang="en-US" sz="35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1.High-cost claims are much fewer than regular claims.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063" y="7838257"/>
            <a:ext cx="14841178" cy="585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</a:pPr>
            <a:r>
              <a:rPr lang="en-US" sz="33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2.Used class_weight='balanced' to assign more weight to minority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847834"/>
            <a:ext cx="14058912" cy="69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0"/>
              </a:lnSpc>
              <a:spcBef>
                <a:spcPct val="0"/>
              </a:spcBef>
            </a:pPr>
            <a:r>
              <a:rPr lang="en-US" sz="4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Hyperparameter Optimization (GridSearchCV)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76002" y="3810246"/>
            <a:ext cx="9036971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Best Parameters: C = 0.005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Loss Function: squared_hinge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930530" y="-1985934"/>
            <a:ext cx="2657541" cy="3971868"/>
          </a:xfrm>
          <a:custGeom>
            <a:avLst/>
            <a:gdLst/>
            <a:ahLst/>
            <a:cxnLst/>
            <a:rect l="l" t="t" r="r" b="b"/>
            <a:pathLst>
              <a:path w="2657541" h="3971868">
                <a:moveTo>
                  <a:pt x="2657540" y="0"/>
                </a:moveTo>
                <a:lnTo>
                  <a:pt x="0" y="0"/>
                </a:lnTo>
                <a:lnTo>
                  <a:pt x="0" y="3971868"/>
                </a:lnTo>
                <a:lnTo>
                  <a:pt x="2657540" y="3971868"/>
                </a:lnTo>
                <a:lnTo>
                  <a:pt x="26575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52536" y="1116937"/>
            <a:ext cx="11973063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Performance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52537" y="3321055"/>
            <a:ext cx="1287081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Cross Validation F1-score: 75.8% on validation data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15811" y="4513580"/>
            <a:ext cx="7631708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8" lvl="1" indent="-399414" algn="ctr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Balances Precision and Recall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15811" y="5417635"/>
            <a:ext cx="13207536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distinguishes between high-cost and low-cost claims while minimizing FP and FNs.</a:t>
            </a: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07" y="2350274"/>
            <a:ext cx="10544703" cy="1777197"/>
          </a:xfrm>
          <a:custGeom>
            <a:avLst/>
            <a:gdLst/>
            <a:ahLst/>
            <a:cxnLst/>
            <a:rect l="l" t="t" r="r" b="b"/>
            <a:pathLst>
              <a:path w="10544703" h="1777197">
                <a:moveTo>
                  <a:pt x="0" y="0"/>
                </a:moveTo>
                <a:lnTo>
                  <a:pt x="10544703" y="0"/>
                </a:lnTo>
                <a:lnTo>
                  <a:pt x="10544703" y="1777197"/>
                </a:lnTo>
                <a:lnTo>
                  <a:pt x="0" y="1777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95753" y="431618"/>
            <a:ext cx="14675692" cy="1070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29"/>
              </a:lnSpc>
              <a:spcBef>
                <a:spcPct val="0"/>
              </a:spcBef>
            </a:pPr>
            <a:r>
              <a:rPr lang="en-US" sz="623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Evaluation – Test Performance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5753" y="4909113"/>
            <a:ext cx="1467569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Balances precision &amp; recall, ensuring correct identification of high-cost claims.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5753" y="6208552"/>
            <a:ext cx="1467569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F1-score is crucial for imbalanced datasets.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5753" y="6907917"/>
            <a:ext cx="1448990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Balanced accuracy ensures fair classification across all claim types.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76229"/>
            <a:ext cx="18288000" cy="6758501"/>
          </a:xfrm>
          <a:custGeom>
            <a:avLst/>
            <a:gdLst/>
            <a:ahLst/>
            <a:cxnLst/>
            <a:rect l="l" t="t" r="r" b="b"/>
            <a:pathLst>
              <a:path w="18288000" h="6758501">
                <a:moveTo>
                  <a:pt x="0" y="0"/>
                </a:moveTo>
                <a:lnTo>
                  <a:pt x="18288000" y="0"/>
                </a:lnTo>
                <a:lnTo>
                  <a:pt x="18288000" y="6758502"/>
                </a:lnTo>
                <a:lnTo>
                  <a:pt x="0" y="675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537527"/>
            <a:ext cx="70485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Positive Coefficients: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9460" y="1601938"/>
            <a:ext cx="1423283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 that may increase the probability of a high-cost claim.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3889" y="2325249"/>
            <a:ext cx="15963411" cy="7961751"/>
          </a:xfrm>
          <a:custGeom>
            <a:avLst/>
            <a:gdLst/>
            <a:ahLst/>
            <a:cxnLst/>
            <a:rect l="l" t="t" r="r" b="b"/>
            <a:pathLst>
              <a:path w="15963411" h="7961751">
                <a:moveTo>
                  <a:pt x="0" y="0"/>
                </a:moveTo>
                <a:lnTo>
                  <a:pt x="15963411" y="0"/>
                </a:lnTo>
                <a:lnTo>
                  <a:pt x="15963411" y="7961751"/>
                </a:lnTo>
                <a:lnTo>
                  <a:pt x="0" y="7961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86320" y="537527"/>
            <a:ext cx="719087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Negative Coefficients: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6832" y="1601938"/>
            <a:ext cx="1423283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 that may decrease the probability of a high-cost claim.</a:t>
            </a: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49098" y="876300"/>
            <a:ext cx="15008114" cy="1248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100"/>
              </a:lnSpc>
            </a:pPr>
            <a:r>
              <a:rPr lang="en-US" sz="7214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1549" y="2476354"/>
            <a:ext cx="14615433" cy="58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2179" lvl="1" indent="-376089" algn="ctr">
              <a:lnSpc>
                <a:spcPts val="4877"/>
              </a:lnSpc>
              <a:buFont typeface="Arial"/>
              <a:buChar char="•"/>
            </a:pPr>
            <a:r>
              <a:rPr lang="en-US" sz="3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Successfully built a predictive model to classify high-cost claims.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1549" y="3412324"/>
            <a:ext cx="15012266" cy="120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2179" lvl="1" indent="-376089" algn="l">
              <a:lnSpc>
                <a:spcPts val="4877"/>
              </a:lnSpc>
              <a:buFont typeface="Arial"/>
              <a:buChar char="•"/>
            </a:pPr>
            <a:r>
              <a:rPr lang="en-US" sz="3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importance analysis highlighted key ICD-10 codes, service codes, and patient demographics affecting claim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776</Words>
  <Application>Microsoft Macintosh PowerPoint</Application>
  <PresentationFormat>Custom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Public Sans</vt:lpstr>
      <vt:lpstr>Public Sans Italics</vt:lpstr>
      <vt:lpstr>Canva Sans Bold</vt:lpstr>
      <vt:lpstr>Calibri</vt:lpstr>
      <vt:lpstr>Canva Sans</vt:lpstr>
      <vt:lpstr>Public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Comp</dc:title>
  <cp:lastModifiedBy>Purevdorj, Uyaruun - DSU Student</cp:lastModifiedBy>
  <cp:revision>4</cp:revision>
  <dcterms:created xsi:type="dcterms:W3CDTF">2006-08-16T00:00:00Z</dcterms:created>
  <dcterms:modified xsi:type="dcterms:W3CDTF">2025-03-17T02:51:25Z</dcterms:modified>
  <dc:identifier>DAGhqVsldOw</dc:identifier>
</cp:coreProperties>
</file>